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29260800" cy="21945600"/>
  <p:notesSz cx="9144000" cy="6858000"/>
  <p:embeddedFontLst>
    <p:embeddedFont>
      <p:font typeface="Uni Sans Regular" panose="00000500000000000000" charset="0"/>
      <p:regular r:id="rId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4" orient="horz" pos="19872" userDrawn="1">
          <p15:clr>
            <a:srgbClr val="A4A3A4"/>
          </p15:clr>
        </p15:guide>
        <p15:guide id="5" pos="61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006E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74" autoAdjust="0"/>
    <p:restoredTop sz="95716" autoAdjust="0"/>
  </p:normalViewPr>
  <p:slideViewPr>
    <p:cSldViewPr snapToGrid="0" snapToObjects="1" showGuides="1">
      <p:cViewPr>
        <p:scale>
          <a:sx n="21" d="100"/>
          <a:sy n="21" d="100"/>
        </p:scale>
        <p:origin x="35" y="733"/>
      </p:cViewPr>
      <p:guideLst>
        <p:guide orient="horz" pos="864"/>
        <p:guide orient="horz" pos="19872"/>
        <p:guide pos="6144"/>
      </p:guideLst>
    </p:cSldViewPr>
  </p:slid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napToObjects="1" showGuides="1">
      <p:cViewPr varScale="1">
        <p:scale>
          <a:sx n="84" d="100"/>
          <a:sy n="84" d="100"/>
        </p:scale>
        <p:origin x="29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1.fntdata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061D43-69EA-485A-B31D-06F488B000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2262A-DD58-D216-4E05-6B7D2CEE23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526E5-6ED1-40E7-8DB0-EC2A4532908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98623-D829-FCE0-AD10-5B31A656C4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DA44E-BAC8-4388-FF0D-5D5BE9FE9D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F035F1-8563-4812-8253-F0BF4F751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8326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BB0D81-BFEA-8349-BED9-214F8A14F7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E8946-B01A-2449-BFE2-192FC93F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670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2568" rtl="0" eaLnBrk="1" latinLnBrk="0" hangingPunct="1">
      <a:defRPr sz="1120" kern="1200">
        <a:solidFill>
          <a:schemeClr val="tx1"/>
        </a:solidFill>
        <a:latin typeface="+mn-lt"/>
        <a:ea typeface="+mn-ea"/>
        <a:cs typeface="+mn-cs"/>
      </a:defRPr>
    </a:lvl1pPr>
    <a:lvl2pPr marL="426284" algn="l" defTabSz="852568" rtl="0" eaLnBrk="1" latinLnBrk="0" hangingPunct="1">
      <a:defRPr sz="1120" kern="1200">
        <a:solidFill>
          <a:schemeClr val="tx1"/>
        </a:solidFill>
        <a:latin typeface="+mn-lt"/>
        <a:ea typeface="+mn-ea"/>
        <a:cs typeface="+mn-cs"/>
      </a:defRPr>
    </a:lvl2pPr>
    <a:lvl3pPr marL="852568" algn="l" defTabSz="852568" rtl="0" eaLnBrk="1" latinLnBrk="0" hangingPunct="1">
      <a:defRPr sz="1120" kern="1200">
        <a:solidFill>
          <a:schemeClr val="tx1"/>
        </a:solidFill>
        <a:latin typeface="+mn-lt"/>
        <a:ea typeface="+mn-ea"/>
        <a:cs typeface="+mn-cs"/>
      </a:defRPr>
    </a:lvl3pPr>
    <a:lvl4pPr marL="1278852" algn="l" defTabSz="852568" rtl="0" eaLnBrk="1" latinLnBrk="0" hangingPunct="1">
      <a:defRPr sz="1120" kern="1200">
        <a:solidFill>
          <a:schemeClr val="tx1"/>
        </a:solidFill>
        <a:latin typeface="+mn-lt"/>
        <a:ea typeface="+mn-ea"/>
        <a:cs typeface="+mn-cs"/>
      </a:defRPr>
    </a:lvl4pPr>
    <a:lvl5pPr marL="1705137" algn="l" defTabSz="852568" rtl="0" eaLnBrk="1" latinLnBrk="0" hangingPunct="1">
      <a:defRPr sz="1120" kern="1200">
        <a:solidFill>
          <a:schemeClr val="tx1"/>
        </a:solidFill>
        <a:latin typeface="+mn-lt"/>
        <a:ea typeface="+mn-ea"/>
        <a:cs typeface="+mn-cs"/>
      </a:defRPr>
    </a:lvl5pPr>
    <a:lvl6pPr marL="2131421" algn="l" defTabSz="852568" rtl="0" eaLnBrk="1" latinLnBrk="0" hangingPunct="1">
      <a:defRPr sz="1120" kern="1200">
        <a:solidFill>
          <a:schemeClr val="tx1"/>
        </a:solidFill>
        <a:latin typeface="+mn-lt"/>
        <a:ea typeface="+mn-ea"/>
        <a:cs typeface="+mn-cs"/>
      </a:defRPr>
    </a:lvl6pPr>
    <a:lvl7pPr marL="2557704" algn="l" defTabSz="852568" rtl="0" eaLnBrk="1" latinLnBrk="0" hangingPunct="1">
      <a:defRPr sz="1120" kern="1200">
        <a:solidFill>
          <a:schemeClr val="tx1"/>
        </a:solidFill>
        <a:latin typeface="+mn-lt"/>
        <a:ea typeface="+mn-ea"/>
        <a:cs typeface="+mn-cs"/>
      </a:defRPr>
    </a:lvl7pPr>
    <a:lvl8pPr marL="2983991" algn="l" defTabSz="852568" rtl="0" eaLnBrk="1" latinLnBrk="0" hangingPunct="1">
      <a:defRPr sz="1120" kern="1200">
        <a:solidFill>
          <a:schemeClr val="tx1"/>
        </a:solidFill>
        <a:latin typeface="+mn-lt"/>
        <a:ea typeface="+mn-ea"/>
        <a:cs typeface="+mn-cs"/>
      </a:defRPr>
    </a:lvl8pPr>
    <a:lvl9pPr marL="3410276" algn="l" defTabSz="852568" rtl="0" eaLnBrk="1" latinLnBrk="0" hangingPunct="1">
      <a:defRPr sz="11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E8946-B01A-2449-BFE2-192FC93FE9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60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4560" y="3591562"/>
            <a:ext cx="2487168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00" y="11526522"/>
            <a:ext cx="219456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1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718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442" y="5471167"/>
            <a:ext cx="2523744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6442" y="14686287"/>
            <a:ext cx="2523744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/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35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11680" y="5842000"/>
            <a:ext cx="1243584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13280" y="5842000"/>
            <a:ext cx="1243584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28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491" y="1168405"/>
            <a:ext cx="2523744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494" y="5379722"/>
            <a:ext cx="1237868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15494" y="8016240"/>
            <a:ext cx="1237868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813282" y="5379722"/>
            <a:ext cx="12439651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813282" y="8016240"/>
            <a:ext cx="12439651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337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302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056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491" y="1463040"/>
            <a:ext cx="9437370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39651" y="3159765"/>
            <a:ext cx="1481328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5491" y="6583680"/>
            <a:ext cx="9437370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857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491" y="1463040"/>
            <a:ext cx="9437370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439651" y="3159765"/>
            <a:ext cx="1481328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5491" y="6583680"/>
            <a:ext cx="9437370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13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293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939762" y="1168400"/>
            <a:ext cx="630936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11682" y="1168400"/>
            <a:ext cx="1856232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819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2FB64-E6C6-7E42-3192-F4C44286E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29260800" cy="4828642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14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1012924" y="1137945"/>
            <a:ext cx="22660666" cy="1697838"/>
          </a:xfrm>
          <a:prstGeom prst="rect">
            <a:avLst/>
          </a:prstGeom>
        </p:spPr>
        <p:txBody>
          <a:bodyPr lIns="0" rIns="0" anchor="b"/>
          <a:lstStyle>
            <a:lvl1pPr algn="l">
              <a:defRPr sz="80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1EE617-D376-BF7B-7ECC-3D715A8C22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15999" y="3991324"/>
            <a:ext cx="22657589" cy="656584"/>
          </a:xfrm>
        </p:spPr>
        <p:txBody>
          <a:bodyPr/>
          <a:lstStyle>
            <a:lvl1pPr marL="0" indent="0">
              <a:buNone/>
              <a:defRPr sz="40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First Name Last Name, First Name Last Name, First Name Last Name, First Name Last Name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72B54C-8107-8BC2-0756-50E483CE2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23" y="2556138"/>
            <a:ext cx="3446272" cy="9509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9FC49-2EC2-3957-B5AE-5755106E19B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16000" y="5496273"/>
            <a:ext cx="6197600" cy="1836418"/>
          </a:xfrm>
        </p:spPr>
        <p:txBody>
          <a:bodyPr>
            <a:noAutofit/>
          </a:bodyPr>
          <a:lstStyle>
            <a:lvl1pPr marL="0" indent="0">
              <a:buNone/>
              <a:defRPr sz="26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4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264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264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264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8B5BE3E-B19A-5213-5202-23C4E727AED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41740" y="7529952"/>
            <a:ext cx="6197597" cy="63267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4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264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264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264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nisi. Duis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nisi.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835EF0-C064-2458-379F-841F884932A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12923" y="14818183"/>
            <a:ext cx="6197597" cy="1263161"/>
          </a:xfrm>
          <a:solidFill>
            <a:schemeClr val="tx2"/>
          </a:solidFill>
        </p:spPr>
        <p:txBody>
          <a:bodyPr lIns="548640" rIns="548640" anchor="b" anchorCtr="0">
            <a:normAutofit/>
          </a:bodyPr>
          <a:lstStyle>
            <a:lvl1pPr marL="0" indent="0">
              <a:buNone/>
              <a:defRPr sz="224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A563F7C-80F5-7A45-8244-E505A80C617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5954" y="16081334"/>
            <a:ext cx="6203712" cy="4721266"/>
          </a:xfrm>
          <a:solidFill>
            <a:schemeClr val="tx2"/>
          </a:solidFill>
        </p:spPr>
        <p:txBody>
          <a:bodyPr lIns="548640" tIns="182880" rIns="548640">
            <a:normAutofit/>
          </a:bodyPr>
          <a:lstStyle>
            <a:lvl1pPr>
              <a:defRPr sz="144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3CC80B-14B9-7CF6-BDCF-FCBE7E5D16F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046437" y="5389160"/>
            <a:ext cx="6195080" cy="5762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8898CA4-E658-78A5-E4A9-012B86A5304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 rot="16200000">
            <a:off x="6292456" y="7729987"/>
            <a:ext cx="3782575" cy="314678"/>
          </a:xfrm>
        </p:spPr>
        <p:txBody>
          <a:bodyPr>
            <a:noAutofit/>
          </a:bodyPr>
          <a:lstStyle>
            <a:lvl1pPr marL="0" indent="0" algn="ctr">
              <a:buNone/>
              <a:defRPr sz="14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E0B498D-6AE9-24F6-A58D-BF9BD536CA0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028925" y="9778616"/>
            <a:ext cx="6195080" cy="354012"/>
          </a:xfrm>
        </p:spPr>
        <p:txBody>
          <a:bodyPr>
            <a:noAutofit/>
          </a:bodyPr>
          <a:lstStyle>
            <a:lvl1pPr marL="0" indent="0" algn="ctr">
              <a:buNone/>
              <a:defRPr sz="14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7" name="Chart Placeholder 56">
            <a:extLst>
              <a:ext uri="{FF2B5EF4-FFF2-40B4-BE49-F238E27FC236}">
                <a16:creationId xmlns:a16="http://schemas.microsoft.com/office/drawing/2014/main" id="{FB87409A-A659-182A-B653-40FE12B63C8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8343799" y="5996041"/>
            <a:ext cx="5880200" cy="376053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384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B1FE93-715E-430A-7072-93B3CE554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1030" y="10816970"/>
            <a:ext cx="6190485" cy="577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2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77930" indent="0">
              <a:buNone/>
              <a:defRPr sz="3202">
                <a:solidFill>
                  <a:schemeClr val="tx2"/>
                </a:solidFill>
                <a:latin typeface="+mj-lt"/>
              </a:defRPr>
            </a:lvl2pPr>
            <a:lvl3pPr marL="1755858" indent="0">
              <a:buNone/>
              <a:defRPr sz="3202">
                <a:solidFill>
                  <a:schemeClr val="tx2"/>
                </a:solidFill>
                <a:latin typeface="+mj-lt"/>
              </a:defRPr>
            </a:lvl3pPr>
            <a:lvl4pPr marL="2633789" indent="0">
              <a:buNone/>
              <a:defRPr sz="3202">
                <a:solidFill>
                  <a:schemeClr val="tx2"/>
                </a:solidFill>
                <a:latin typeface="+mj-lt"/>
              </a:defRPr>
            </a:lvl4pPr>
            <a:lvl5pPr marL="3511716" indent="0">
              <a:buNone/>
              <a:defRPr sz="3202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758B34E-538D-6627-60B1-CC449705A6B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051030" y="11856990"/>
            <a:ext cx="6172970" cy="771553"/>
          </a:xfrm>
        </p:spPr>
        <p:txBody>
          <a:bodyPr>
            <a:noAutofit/>
          </a:bodyPr>
          <a:lstStyle>
            <a:lvl1pPr marL="0" indent="0">
              <a:buNone/>
              <a:defRPr sz="144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1D9CBC8-2414-D7F4-31D8-8114113A0DC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051038" y="12639824"/>
            <a:ext cx="6172966" cy="3317268"/>
          </a:xfrm>
        </p:spPr>
        <p:txBody>
          <a:bodyPr>
            <a:noAutofit/>
          </a:bodyPr>
          <a:lstStyle>
            <a:lvl1pPr marL="228628" indent="-228628">
              <a:buFont typeface="Arial" panose="020B0604020202020204" pitchFamily="34" charset="0"/>
              <a:buChar char="•"/>
              <a:defRPr sz="144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37" name="Picture Placeholder 18">
            <a:extLst>
              <a:ext uri="{FF2B5EF4-FFF2-40B4-BE49-F238E27FC236}">
                <a16:creationId xmlns:a16="http://schemas.microsoft.com/office/drawing/2014/main" id="{A9ED605D-014B-6361-4B25-AF591EE487B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054525" y="16444333"/>
            <a:ext cx="6169475" cy="3590831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256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438964" marR="0" lvl="0" indent="-438964" algn="l" defTabSz="1755858" rtl="0" eaLnBrk="1" fontAlgn="auto" latinLnBrk="0" hangingPunct="1">
              <a:lnSpc>
                <a:spcPct val="90000"/>
              </a:lnSpc>
              <a:spcBef>
                <a:spcPts val="192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248DD8AC-F30D-FA2A-2670-0A4D4BFA641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054529" y="20145417"/>
            <a:ext cx="6186986" cy="449262"/>
          </a:xfrm>
        </p:spPr>
        <p:txBody>
          <a:bodyPr>
            <a:noAutofit/>
          </a:bodyPr>
          <a:lstStyle>
            <a:lvl1pPr marL="0" indent="0">
              <a:buNone/>
              <a:defRPr sz="96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960"/>
            </a:lvl2pPr>
            <a:lvl3pPr>
              <a:defRPr sz="960"/>
            </a:lvl3pPr>
            <a:lvl4pPr>
              <a:defRPr sz="960"/>
            </a:lvl4pPr>
            <a:lvl5pPr>
              <a:defRPr sz="96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6B866D6D-0E0B-BC55-3CAA-89FFFA558E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061429" y="5312682"/>
            <a:ext cx="6172970" cy="577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2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77930" indent="0">
              <a:buNone/>
              <a:defRPr sz="3202">
                <a:solidFill>
                  <a:schemeClr val="tx2"/>
                </a:solidFill>
                <a:latin typeface="+mj-lt"/>
              </a:defRPr>
            </a:lvl2pPr>
            <a:lvl3pPr marL="1755858" indent="0">
              <a:buNone/>
              <a:defRPr sz="3202">
                <a:solidFill>
                  <a:schemeClr val="tx2"/>
                </a:solidFill>
                <a:latin typeface="+mj-lt"/>
              </a:defRPr>
            </a:lvl3pPr>
            <a:lvl4pPr marL="2633789" indent="0">
              <a:buNone/>
              <a:defRPr sz="3202">
                <a:solidFill>
                  <a:schemeClr val="tx2"/>
                </a:solidFill>
                <a:latin typeface="+mj-lt"/>
              </a:defRPr>
            </a:lvl4pPr>
            <a:lvl5pPr marL="3511716" indent="0">
              <a:buNone/>
              <a:defRPr sz="3202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792949F3-A85B-9075-3379-5507A48829D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066375" y="6318958"/>
            <a:ext cx="6168033" cy="701968"/>
          </a:xfrm>
        </p:spPr>
        <p:txBody>
          <a:bodyPr>
            <a:noAutofit/>
          </a:bodyPr>
          <a:lstStyle>
            <a:lvl1pPr marL="0" indent="0">
              <a:buNone/>
              <a:defRPr sz="144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F1E2B9C-4C5D-F48A-7C53-C6465EDEE89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5066371" y="7211272"/>
            <a:ext cx="6168027" cy="3222652"/>
          </a:xfrm>
        </p:spPr>
        <p:txBody>
          <a:bodyPr>
            <a:noAutofit/>
          </a:bodyPr>
          <a:lstStyle>
            <a:lvl1pPr marL="228628" indent="-228628">
              <a:buFont typeface="Arial" panose="020B0604020202020204" pitchFamily="34" charset="0"/>
              <a:buChar char="•"/>
              <a:defRPr sz="144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3B4E6C2F-255C-BD4A-9AB9-0BEEAACD373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055315" y="11048408"/>
            <a:ext cx="6153022" cy="5762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E9A8CD13-2EE6-94A8-AD2C-E35E3DEB723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5055315" y="14953220"/>
            <a:ext cx="2999854" cy="354012"/>
          </a:xfrm>
        </p:spPr>
        <p:txBody>
          <a:bodyPr>
            <a:noAutofit/>
          </a:bodyPr>
          <a:lstStyle>
            <a:lvl1pPr marL="0" indent="0" algn="ctr">
              <a:buNone/>
              <a:defRPr sz="14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9" name="Chart Placeholder 56">
            <a:extLst>
              <a:ext uri="{FF2B5EF4-FFF2-40B4-BE49-F238E27FC236}">
                <a16:creationId xmlns:a16="http://schemas.microsoft.com/office/drawing/2014/main" id="{D5B5394A-2F22-FDE5-236E-71E183E88E0D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15055322" y="11632594"/>
            <a:ext cx="2999855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384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9A791779-1151-EF6C-A588-547FB9E5F08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8051518" y="14953220"/>
            <a:ext cx="3182886" cy="354012"/>
          </a:xfrm>
        </p:spPr>
        <p:txBody>
          <a:bodyPr>
            <a:noAutofit/>
          </a:bodyPr>
          <a:lstStyle>
            <a:lvl1pPr marL="0" indent="0" algn="ctr">
              <a:buNone/>
              <a:defRPr sz="14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0" name="Chart Placeholder 56">
            <a:extLst>
              <a:ext uri="{FF2B5EF4-FFF2-40B4-BE49-F238E27FC236}">
                <a16:creationId xmlns:a16="http://schemas.microsoft.com/office/drawing/2014/main" id="{7494449F-9756-E9E3-C51C-021C113FAE32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18051514" y="11632594"/>
            <a:ext cx="3156823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384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F1384E64-71EB-804E-B091-737F5DA7AF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044104" y="15836933"/>
            <a:ext cx="6190294" cy="577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2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77930" indent="0">
              <a:buNone/>
              <a:defRPr sz="3202">
                <a:solidFill>
                  <a:schemeClr val="tx2"/>
                </a:solidFill>
                <a:latin typeface="+mj-lt"/>
              </a:defRPr>
            </a:lvl2pPr>
            <a:lvl3pPr marL="1755858" indent="0">
              <a:buNone/>
              <a:defRPr sz="3202">
                <a:solidFill>
                  <a:schemeClr val="tx2"/>
                </a:solidFill>
                <a:latin typeface="+mj-lt"/>
              </a:defRPr>
            </a:lvl3pPr>
            <a:lvl4pPr marL="2633789" indent="0">
              <a:buNone/>
              <a:defRPr sz="3202">
                <a:solidFill>
                  <a:schemeClr val="tx2"/>
                </a:solidFill>
                <a:latin typeface="+mj-lt"/>
              </a:defRPr>
            </a:lvl4pPr>
            <a:lvl5pPr marL="3511716" indent="0">
              <a:buNone/>
              <a:defRPr sz="3202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945E6360-CBB8-C8AC-DE89-775B4175896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5066379" y="16856230"/>
            <a:ext cx="6168030" cy="872077"/>
          </a:xfrm>
        </p:spPr>
        <p:txBody>
          <a:bodyPr>
            <a:noAutofit/>
          </a:bodyPr>
          <a:lstStyle>
            <a:lvl1pPr marL="0" indent="0">
              <a:buNone/>
              <a:defRPr sz="144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10F387-A5AC-E019-556E-3B4FF34DE43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5066374" y="17854502"/>
            <a:ext cx="6168026" cy="2929053"/>
          </a:xfrm>
        </p:spPr>
        <p:txBody>
          <a:bodyPr>
            <a:noAutofit/>
          </a:bodyPr>
          <a:lstStyle>
            <a:lvl1pPr marL="228628" indent="-228628">
              <a:buFont typeface="Arial" panose="020B0604020202020204" pitchFamily="34" charset="0"/>
              <a:buChar char="•"/>
              <a:defRPr sz="144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780011B-BEBD-6A88-2851-E87C254E14D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2047200" y="5345458"/>
            <a:ext cx="6197600" cy="5762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60399315-C974-7843-A546-3BC29EA169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 rot="16200000">
            <a:off x="20243644" y="7693499"/>
            <a:ext cx="3921809" cy="314678"/>
          </a:xfrm>
        </p:spPr>
        <p:txBody>
          <a:bodyPr>
            <a:noAutofit/>
          </a:bodyPr>
          <a:lstStyle>
            <a:lvl1pPr marL="0" indent="0" algn="ctr">
              <a:buNone/>
              <a:defRPr sz="14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4369CC56-84FF-A9B3-DC20-281116398C8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2075134" y="9811057"/>
            <a:ext cx="6143926" cy="354012"/>
          </a:xfrm>
        </p:spPr>
        <p:txBody>
          <a:bodyPr>
            <a:noAutofit/>
          </a:bodyPr>
          <a:lstStyle>
            <a:lvl1pPr marL="0" indent="0" algn="ctr">
              <a:buNone/>
              <a:defRPr sz="14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8" name="Chart Placeholder 56">
            <a:extLst>
              <a:ext uri="{FF2B5EF4-FFF2-40B4-BE49-F238E27FC236}">
                <a16:creationId xmlns:a16="http://schemas.microsoft.com/office/drawing/2014/main" id="{314873A6-E346-BBD8-198B-75CF072C9B2B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22361880" y="5933010"/>
            <a:ext cx="5882922" cy="387805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384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6" name="Text Placeholder 25">
            <a:extLst>
              <a:ext uri="{FF2B5EF4-FFF2-40B4-BE49-F238E27FC236}">
                <a16:creationId xmlns:a16="http://schemas.microsoft.com/office/drawing/2014/main" id="{03736E28-27F3-A378-90E6-702C704BB4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071833" y="10812253"/>
            <a:ext cx="6143927" cy="577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2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77930" indent="0">
              <a:buNone/>
              <a:defRPr sz="3202">
                <a:solidFill>
                  <a:schemeClr val="tx2"/>
                </a:solidFill>
                <a:latin typeface="+mj-lt"/>
              </a:defRPr>
            </a:lvl2pPr>
            <a:lvl3pPr marL="1755858" indent="0">
              <a:buNone/>
              <a:defRPr sz="3202">
                <a:solidFill>
                  <a:schemeClr val="tx2"/>
                </a:solidFill>
                <a:latin typeface="+mj-lt"/>
              </a:defRPr>
            </a:lvl3pPr>
            <a:lvl4pPr marL="2633789" indent="0">
              <a:buNone/>
              <a:defRPr sz="3202">
                <a:solidFill>
                  <a:schemeClr val="tx2"/>
                </a:solidFill>
                <a:latin typeface="+mj-lt"/>
              </a:defRPr>
            </a:lvl4pPr>
            <a:lvl5pPr marL="3511716" indent="0">
              <a:buNone/>
              <a:defRPr sz="3202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33A5D178-74A1-4DE2-1B8E-215EEED10B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2054500" y="11814513"/>
            <a:ext cx="6190299" cy="825310"/>
          </a:xfrm>
        </p:spPr>
        <p:txBody>
          <a:bodyPr>
            <a:noAutofit/>
          </a:bodyPr>
          <a:lstStyle>
            <a:lvl1pPr marL="0" indent="0">
              <a:buNone/>
              <a:defRPr sz="144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66" name="Text Placeholder 17">
            <a:extLst>
              <a:ext uri="{FF2B5EF4-FFF2-40B4-BE49-F238E27FC236}">
                <a16:creationId xmlns:a16="http://schemas.microsoft.com/office/drawing/2014/main" id="{076EE7ED-70B2-6630-609F-2FE0086FB1F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2054504" y="12783749"/>
            <a:ext cx="6197600" cy="3311922"/>
          </a:xfrm>
        </p:spPr>
        <p:txBody>
          <a:bodyPr>
            <a:noAutofit/>
          </a:bodyPr>
          <a:lstStyle>
            <a:lvl1pPr marL="228628" indent="-228628">
              <a:buFont typeface="Arial" panose="020B0604020202020204" pitchFamily="34" charset="0"/>
              <a:buChar char="•"/>
              <a:defRPr sz="144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1081191-5373-5749-7DC4-98783C3690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2047209" y="16459204"/>
            <a:ext cx="6197599" cy="357595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3202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438964" marR="0" lvl="0" indent="-438964" algn="l" defTabSz="1755858" rtl="0" eaLnBrk="1" fontAlgn="auto" latinLnBrk="0" hangingPunct="1">
              <a:lnSpc>
                <a:spcPct val="90000"/>
              </a:lnSpc>
              <a:spcBef>
                <a:spcPts val="192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936DFD-DC62-63FC-9D7D-E54AA02C41C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047203" y="20132675"/>
            <a:ext cx="6197597" cy="449262"/>
          </a:xfrm>
        </p:spPr>
        <p:txBody>
          <a:bodyPr>
            <a:noAutofit/>
          </a:bodyPr>
          <a:lstStyle>
            <a:lvl1pPr marL="0" indent="0">
              <a:buNone/>
              <a:defRPr sz="96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960"/>
            </a:lvl2pPr>
            <a:lvl3pPr>
              <a:defRPr sz="960"/>
            </a:lvl3pPr>
            <a:lvl4pPr>
              <a:defRPr sz="960"/>
            </a:lvl4pPr>
            <a:lvl5pPr>
              <a:defRPr sz="96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28FCD0-97C4-FCA0-4AF5-D629286C0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6513" y="2113629"/>
            <a:ext cx="3980318" cy="267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914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1680" y="1168405"/>
            <a:ext cx="2523744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1680" y="5842000"/>
            <a:ext cx="2523744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11680" y="20340325"/>
            <a:ext cx="658368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692640" y="20340325"/>
            <a:ext cx="987552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665440" y="20340325"/>
            <a:ext cx="658368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353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912" userDrawn="1">
          <p15:clr>
            <a:srgbClr val="F26B43"/>
          </p15:clr>
        </p15:guide>
        <p15:guide id="2" pos="640" userDrawn="1">
          <p15:clr>
            <a:srgbClr val="F26B43"/>
          </p15:clr>
        </p15:guide>
        <p15:guide id="3" pos="17792" userDrawn="1">
          <p15:clr>
            <a:srgbClr val="F26B43"/>
          </p15:clr>
        </p15:guide>
        <p15:guide id="4" pos="4544" userDrawn="1">
          <p15:clr>
            <a:srgbClr val="F26B43"/>
          </p15:clr>
        </p15:guide>
        <p15:guide id="5" pos="13888" userDrawn="1">
          <p15:clr>
            <a:srgbClr val="F26B43"/>
          </p15:clr>
        </p15:guide>
        <p15:guide id="6" pos="5056" userDrawn="1">
          <p15:clr>
            <a:srgbClr val="F26B43"/>
          </p15:clr>
        </p15:guide>
        <p15:guide id="7" pos="13376" userDrawn="1">
          <p15:clr>
            <a:srgbClr val="F26B43"/>
          </p15:clr>
        </p15:guide>
        <p15:guide id="8" pos="8960" userDrawn="1">
          <p15:clr>
            <a:srgbClr val="F26B43"/>
          </p15:clr>
        </p15:guide>
        <p15:guide id="9" pos="9472" userDrawn="1">
          <p15:clr>
            <a:srgbClr val="F26B43"/>
          </p15:clr>
        </p15:guide>
        <p15:guide id="10" pos="9216" userDrawn="1">
          <p15:clr>
            <a:srgbClr val="F26B43"/>
          </p15:clr>
        </p15:guide>
        <p15:guide id="11" orient="horz" pos="13104" userDrawn="1">
          <p15:clr>
            <a:srgbClr val="F26B43"/>
          </p15:clr>
        </p15:guide>
        <p15:guide id="12" orient="horz" pos="7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cmpb.2022.107035" TargetMode="External"/><Relationship Id="rId13" Type="http://schemas.openxmlformats.org/officeDocument/2006/relationships/image" Target="../media/image7.png"/><Relationship Id="rId3" Type="http://schemas.openxmlformats.org/officeDocument/2006/relationships/hyperlink" Target="https://www.encodeproject.org/" TargetMode="External"/><Relationship Id="rId7" Type="http://schemas.openxmlformats.org/officeDocument/2006/relationships/hyperlink" Target="https://doi.org/10.1038/s41586-025-10014-0" TargetMode="Externa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i.org/10.1016/j.xgen.2025.100762" TargetMode="External"/><Relationship Id="rId11" Type="http://schemas.openxmlformats.org/officeDocument/2006/relationships/image" Target="../media/image5.png"/><Relationship Id="rId5" Type="http://schemas.openxmlformats.org/officeDocument/2006/relationships/hyperlink" Target="https://genome.ucsc.edu/" TargetMode="Externa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hyperlink" Target="https://www.ncbi.nlm.nih.gov/grc" TargetMode="Externa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B4F14A42-8FB4-51F6-361A-F064F020D497}"/>
              </a:ext>
            </a:extLst>
          </p:cNvPr>
          <p:cNvSpPr/>
          <p:nvPr/>
        </p:nvSpPr>
        <p:spPr>
          <a:xfrm>
            <a:off x="10412006" y="14015484"/>
            <a:ext cx="18483035" cy="724870"/>
          </a:xfrm>
          <a:prstGeom prst="rect">
            <a:avLst/>
          </a:prstGeom>
          <a:solidFill>
            <a:srgbClr val="32006E"/>
          </a:solidFill>
          <a:ln w="76200">
            <a:solidFill>
              <a:srgbClr val="3200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3EEF182-FE8A-762D-4A21-7236DA16E03E}"/>
              </a:ext>
            </a:extLst>
          </p:cNvPr>
          <p:cNvSpPr/>
          <p:nvPr/>
        </p:nvSpPr>
        <p:spPr>
          <a:xfrm>
            <a:off x="10406354" y="5151675"/>
            <a:ext cx="18525262" cy="724870"/>
          </a:xfrm>
          <a:prstGeom prst="rect">
            <a:avLst/>
          </a:prstGeom>
          <a:solidFill>
            <a:srgbClr val="32006E"/>
          </a:solidFill>
          <a:ln w="76200">
            <a:solidFill>
              <a:srgbClr val="3200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6AA538B-DBBF-58BF-7727-D8821275691F}"/>
              </a:ext>
            </a:extLst>
          </p:cNvPr>
          <p:cNvSpPr/>
          <p:nvPr/>
        </p:nvSpPr>
        <p:spPr>
          <a:xfrm>
            <a:off x="292335" y="14002434"/>
            <a:ext cx="9889494" cy="724870"/>
          </a:xfrm>
          <a:prstGeom prst="rect">
            <a:avLst/>
          </a:prstGeom>
          <a:solidFill>
            <a:srgbClr val="32006E"/>
          </a:solidFill>
          <a:ln w="76200">
            <a:solidFill>
              <a:srgbClr val="3200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1CC4DA2-00DF-B98F-487F-B3CAD26FF620}"/>
              </a:ext>
            </a:extLst>
          </p:cNvPr>
          <p:cNvSpPr/>
          <p:nvPr/>
        </p:nvSpPr>
        <p:spPr>
          <a:xfrm>
            <a:off x="283151" y="5151675"/>
            <a:ext cx="9898678" cy="724870"/>
          </a:xfrm>
          <a:prstGeom prst="rect">
            <a:avLst/>
          </a:prstGeom>
          <a:solidFill>
            <a:srgbClr val="32006E"/>
          </a:solidFill>
          <a:ln w="76200">
            <a:solidFill>
              <a:srgbClr val="3200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08C2C8-117E-8C9B-F91F-52D8B1C0F8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6400" b="1" dirty="0">
                <a:solidFill>
                  <a:schemeClr val="bg1"/>
                </a:solidFill>
              </a:rPr>
              <a:t>Regulatory DNA Prediction from Peak and Context Sequences Using </a:t>
            </a:r>
            <a:r>
              <a:rPr lang="en-US" sz="6400" b="1" dirty="0" err="1">
                <a:solidFill>
                  <a:schemeClr val="bg1"/>
                </a:solidFill>
              </a:rPr>
              <a:t>BiLSTMs</a:t>
            </a:r>
            <a:r>
              <a:rPr lang="en-US" sz="6400" b="1" dirty="0">
                <a:solidFill>
                  <a:schemeClr val="bg1"/>
                </a:solidFill>
              </a:rPr>
              <a:t> and Transformers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C70AC-B9BB-2FB8-E609-5952BED1EC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3152" y="5307689"/>
            <a:ext cx="6854921" cy="49326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BACKGROUND &amp; MOTIVATION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8470EBD-9D38-0D01-0EF4-2573AD9666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12924" y="3604873"/>
            <a:ext cx="22735120" cy="107644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</a:rPr>
              <a:t>Connor Nguyen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</a:rPr>
              <a:t>CSE 493G1 Spring 2026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18B6C81-7442-090C-1DE7-5D6C9CA072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0654" y="6091935"/>
            <a:ext cx="9167134" cy="18743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920" b="1" dirty="0">
                <a:solidFill>
                  <a:schemeClr val="tx1"/>
                </a:solidFill>
              </a:rPr>
              <a:t>Background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solidFill>
                  <a:schemeClr val="tx1"/>
                </a:solidFill>
              </a:rPr>
              <a:t>Regulatory DNA consists of DNA regions that control when and where genes are turned on or off. Examples include promoters and enhancers, which help regulate gene expression.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solidFill>
                  <a:schemeClr val="tx1"/>
                </a:solidFill>
              </a:rPr>
              <a:t>Deep learning models are becoming increasingly prevalent in identifying these regulatory regions directly from DNA sequences.</a:t>
            </a:r>
          </a:p>
          <a:p>
            <a:pPr marL="274311" indent="-274311">
              <a:buFont typeface="Arial" panose="020B0604020202020204" pitchFamily="34" charset="0"/>
              <a:buChar char="•"/>
            </a:pPr>
            <a:endParaRPr lang="en-US" sz="1920" dirty="0">
              <a:solidFill>
                <a:schemeClr val="tx1"/>
              </a:solidFill>
            </a:endParaRPr>
          </a:p>
          <a:p>
            <a:endParaRPr lang="en-US" sz="1920" dirty="0">
              <a:solidFill>
                <a:schemeClr val="tx1"/>
              </a:solidFill>
            </a:endParaRP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72379BAF-7373-C4F1-0A13-ECC55653E124}"/>
              </a:ext>
            </a:extLst>
          </p:cNvPr>
          <p:cNvSpPr txBox="1">
            <a:spLocks/>
          </p:cNvSpPr>
          <p:nvPr/>
        </p:nvSpPr>
        <p:spPr>
          <a:xfrm>
            <a:off x="620654" y="7966261"/>
            <a:ext cx="9167135" cy="2449855"/>
          </a:xfrm>
          <a:prstGeom prst="rect">
            <a:avLst/>
          </a:prstGeom>
        </p:spPr>
        <p:txBody>
          <a:bodyPr vert="horz" lIns="73152" tIns="36576" rIns="73152" bIns="36576" rtlCol="0">
            <a:noAutofit/>
          </a:bodyPr>
          <a:lstStyle>
            <a:lvl1pPr marL="0" indent="0" algn="l" defTabSz="2194889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46168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613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41056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93850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35947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3339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230834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8280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920" b="1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Modern genomic models have achieved strong predictive performances; however, their architectures often operate as black boxes, making it unclear what biological data they rely on.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The regions surrounding core regulatory sequences may contain enough information for models to infer regulatory activity without the core region present.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Analyzing whether models depend on true regulatory regions or contextual bias can improve interpretability and understanding in genomics machine learning.</a:t>
            </a: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5A70E13E-17D5-9B3C-A25E-2BF968C56F8D}"/>
              </a:ext>
            </a:extLst>
          </p:cNvPr>
          <p:cNvSpPr txBox="1">
            <a:spLocks/>
          </p:cNvSpPr>
          <p:nvPr/>
        </p:nvSpPr>
        <p:spPr>
          <a:xfrm>
            <a:off x="620652" y="10416117"/>
            <a:ext cx="9167134" cy="962610"/>
          </a:xfrm>
          <a:prstGeom prst="rect">
            <a:avLst/>
          </a:prstGeom>
        </p:spPr>
        <p:txBody>
          <a:bodyPr vert="horz" lIns="73152" tIns="36576" rIns="73152" bIns="36576" rtlCol="0">
            <a:noAutofit/>
          </a:bodyPr>
          <a:lstStyle>
            <a:lvl1pPr marL="0" indent="0" algn="l" defTabSz="2194889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46168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613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41056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93850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35947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3339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230834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8280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920" b="1" dirty="0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endParaRPr lang="en-US" sz="19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Determine whether machine learning architectures can predict regulatory DNA activity using only surrounding genomic context.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9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20842960-BA3D-301F-4B81-D9D156481646}"/>
              </a:ext>
            </a:extLst>
          </p:cNvPr>
          <p:cNvSpPr txBox="1">
            <a:spLocks/>
          </p:cNvSpPr>
          <p:nvPr/>
        </p:nvSpPr>
        <p:spPr>
          <a:xfrm>
            <a:off x="292336" y="14118236"/>
            <a:ext cx="6854921" cy="493266"/>
          </a:xfrm>
          <a:prstGeom prst="rect">
            <a:avLst/>
          </a:prstGeom>
        </p:spPr>
        <p:txBody>
          <a:bodyPr vert="horz" lIns="73152" tIns="36576" rIns="73152" bIns="36576" rtlCol="0">
            <a:noAutofit/>
          </a:bodyPr>
          <a:lstStyle>
            <a:lvl1pPr marL="0" indent="0" algn="l" defTabSz="2194889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1097445" indent="0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2194889" indent="0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3292335" indent="0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4389777" indent="0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6035947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3339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230834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8280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DESIGN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C7B706EC-750E-19B4-3CB7-BC207629781B}"/>
              </a:ext>
            </a:extLst>
          </p:cNvPr>
          <p:cNvSpPr txBox="1">
            <a:spLocks/>
          </p:cNvSpPr>
          <p:nvPr/>
        </p:nvSpPr>
        <p:spPr>
          <a:xfrm>
            <a:off x="620654" y="14996210"/>
            <a:ext cx="9167133" cy="3276889"/>
          </a:xfrm>
          <a:prstGeom prst="rect">
            <a:avLst/>
          </a:prstGeom>
        </p:spPr>
        <p:txBody>
          <a:bodyPr vert="horz" lIns="73152" tIns="36576" rIns="73152" bIns="36576" rtlCol="0">
            <a:noAutofit/>
          </a:bodyPr>
          <a:lstStyle>
            <a:lvl1pPr marL="0" indent="0" algn="l" defTabSz="2194889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46168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613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41056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93850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35947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3339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230834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8280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DNase-seq experiments identify regions of open chromatin, or accessible DNA, which are often associated with active regulatory elements. 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Regulatory DNA sequences were obtained from the ENCODE DNase-seq peak annotations mapped to the human reference genome (GRCh38).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For each regulatory region, the following was extracted:</a:t>
            </a:r>
          </a:p>
          <a:p>
            <a:pPr marL="1591246" lvl="1" indent="-274311">
              <a:lnSpc>
                <a:spcPct val="100000"/>
              </a:lnSpc>
              <a:spcBef>
                <a:spcPts val="0"/>
              </a:spcBef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the regulatory region itself </a:t>
            </a:r>
            <a:r>
              <a:rPr lang="en-US" sz="1920" b="1" dirty="0">
                <a:latin typeface="Arial" panose="020B0604020202020204" pitchFamily="34" charset="0"/>
                <a:cs typeface="Arial" panose="020B0604020202020204" pitchFamily="34" charset="0"/>
              </a:rPr>
              <a:t>(peak sequence)</a:t>
            </a:r>
          </a:p>
          <a:p>
            <a:pPr marL="1591246" lvl="1" indent="-274311">
              <a:lnSpc>
                <a:spcPct val="100000"/>
              </a:lnSpc>
              <a:spcBef>
                <a:spcPts val="0"/>
              </a:spcBef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the surrounding DNA </a:t>
            </a:r>
            <a:r>
              <a:rPr lang="en-US" sz="1920" b="1" dirty="0">
                <a:latin typeface="Arial" panose="020B0604020202020204" pitchFamily="34" charset="0"/>
                <a:cs typeface="Arial" panose="020B0604020202020204" pitchFamily="34" charset="0"/>
              </a:rPr>
              <a:t>(context sequence)</a:t>
            </a:r>
          </a:p>
          <a:p>
            <a:pPr marL="1591246" lvl="1" indent="-274311">
              <a:lnSpc>
                <a:spcPct val="100000"/>
              </a:lnSpc>
              <a:spcBef>
                <a:spcPts val="0"/>
              </a:spcBef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both regions combined </a:t>
            </a:r>
            <a:r>
              <a:rPr lang="en-US" sz="1920" b="1" dirty="0">
                <a:latin typeface="Arial" panose="020B0604020202020204" pitchFamily="34" charset="0"/>
                <a:cs typeface="Arial" panose="020B0604020202020204" pitchFamily="34" charset="0"/>
              </a:rPr>
              <a:t>(full sequence)</a:t>
            </a:r>
          </a:p>
          <a:p>
            <a:pPr marL="274320" indent="-27432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BiLSTM and Transformer models were trained on each input type to evaluate how much predictive information is contained within the genomic context alone.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9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2E5ECC5-F146-DF95-FFD8-3EAD6D3D091C}"/>
              </a:ext>
            </a:extLst>
          </p:cNvPr>
          <p:cNvSpPr/>
          <p:nvPr/>
        </p:nvSpPr>
        <p:spPr>
          <a:xfrm>
            <a:off x="283151" y="5151674"/>
            <a:ext cx="9904330" cy="8581852"/>
          </a:xfrm>
          <a:prstGeom prst="rect">
            <a:avLst/>
          </a:prstGeom>
          <a:noFill/>
          <a:ln w="76200">
            <a:solidFill>
              <a:srgbClr val="3200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91D1133-46CE-E466-FEBD-E6A29F33C08A}"/>
              </a:ext>
            </a:extLst>
          </p:cNvPr>
          <p:cNvSpPr/>
          <p:nvPr/>
        </p:nvSpPr>
        <p:spPr>
          <a:xfrm>
            <a:off x="297987" y="14002434"/>
            <a:ext cx="9889494" cy="7522939"/>
          </a:xfrm>
          <a:prstGeom prst="rect">
            <a:avLst/>
          </a:prstGeom>
          <a:noFill/>
          <a:ln w="76200">
            <a:solidFill>
              <a:srgbClr val="3200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A9801495-507A-77B5-42BD-B619CB317517}"/>
              </a:ext>
            </a:extLst>
          </p:cNvPr>
          <p:cNvSpPr txBox="1">
            <a:spLocks/>
          </p:cNvSpPr>
          <p:nvPr/>
        </p:nvSpPr>
        <p:spPr>
          <a:xfrm>
            <a:off x="10406354" y="5267477"/>
            <a:ext cx="6854921" cy="493266"/>
          </a:xfrm>
          <a:prstGeom prst="rect">
            <a:avLst/>
          </a:prstGeom>
        </p:spPr>
        <p:txBody>
          <a:bodyPr vert="horz" lIns="73152" tIns="36576" rIns="73152" bIns="36576" rtlCol="0">
            <a:noAutofit/>
          </a:bodyPr>
          <a:lstStyle>
            <a:lvl1pPr marL="0" indent="0" algn="l" defTabSz="2194889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1097445" indent="0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2194889" indent="0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3292335" indent="0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4389777" indent="0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6035947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3339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230834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8280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RESULTS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45C6F81-152D-E971-CD36-3B6F4DD49A8C}"/>
              </a:ext>
            </a:extLst>
          </p:cNvPr>
          <p:cNvSpPr/>
          <p:nvPr/>
        </p:nvSpPr>
        <p:spPr>
          <a:xfrm>
            <a:off x="10406354" y="5151674"/>
            <a:ext cx="18525261" cy="8581851"/>
          </a:xfrm>
          <a:prstGeom prst="rect">
            <a:avLst/>
          </a:prstGeom>
          <a:noFill/>
          <a:ln w="76200">
            <a:solidFill>
              <a:srgbClr val="3200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BBF22337-A6C8-FF99-3D2D-FFACF9E1416D}"/>
              </a:ext>
            </a:extLst>
          </p:cNvPr>
          <p:cNvSpPr txBox="1">
            <a:spLocks/>
          </p:cNvSpPr>
          <p:nvPr/>
        </p:nvSpPr>
        <p:spPr>
          <a:xfrm>
            <a:off x="10412005" y="14131286"/>
            <a:ext cx="16060658" cy="493266"/>
          </a:xfrm>
          <a:prstGeom prst="rect">
            <a:avLst/>
          </a:prstGeom>
        </p:spPr>
        <p:txBody>
          <a:bodyPr vert="horz" lIns="73152" tIns="36576" rIns="73152" bIns="36576" rtlCol="0">
            <a:noAutofit/>
          </a:bodyPr>
          <a:lstStyle>
            <a:lvl1pPr marL="0" indent="0" algn="l" defTabSz="2194889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1097445" indent="0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2194889" indent="0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3292335" indent="0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4389777" indent="0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6035947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3339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230834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8280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 &amp; FUTURE WORK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51160A0-DCC7-91A2-1DC5-7D3DAD2BB3E0}"/>
              </a:ext>
            </a:extLst>
          </p:cNvPr>
          <p:cNvSpPr/>
          <p:nvPr/>
        </p:nvSpPr>
        <p:spPr>
          <a:xfrm>
            <a:off x="10406355" y="14002433"/>
            <a:ext cx="18525259" cy="4101198"/>
          </a:xfrm>
          <a:prstGeom prst="rect">
            <a:avLst/>
          </a:prstGeom>
          <a:noFill/>
          <a:ln w="76200">
            <a:solidFill>
              <a:srgbClr val="3200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Placeholder 16">
            <a:extLst>
              <a:ext uri="{FF2B5EF4-FFF2-40B4-BE49-F238E27FC236}">
                <a16:creationId xmlns:a16="http://schemas.microsoft.com/office/drawing/2014/main" id="{ECFA7348-E09D-9BF8-D0D5-6B452DBA854C}"/>
              </a:ext>
            </a:extLst>
          </p:cNvPr>
          <p:cNvSpPr txBox="1">
            <a:spLocks/>
          </p:cNvSpPr>
          <p:nvPr/>
        </p:nvSpPr>
        <p:spPr>
          <a:xfrm>
            <a:off x="10688364" y="14918386"/>
            <a:ext cx="7160397" cy="3009791"/>
          </a:xfrm>
          <a:prstGeom prst="rect">
            <a:avLst/>
          </a:prstGeom>
        </p:spPr>
        <p:txBody>
          <a:bodyPr vert="horz" lIns="73152" tIns="36576" rIns="73152" bIns="36576" rtlCol="0">
            <a:noAutofit/>
          </a:bodyPr>
          <a:lstStyle>
            <a:lvl1pPr marL="0" indent="0" algn="l" defTabSz="2194889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46168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613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41056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93850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35947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3339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230834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8280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920" b="1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Regulatory DNA can be predicted directly from DNA sequences using deep learning models.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Peak sequences produced the strongest performance, indicating that the primary regulatory signal lies within the regulatory region itself.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Context sequences alone remained predictive, suggesting the presence of contextual biases surrounding genomic features.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Model performance varied across architectures, revealing differences in how sequence information is learned.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9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9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Placeholder 16">
            <a:extLst>
              <a:ext uri="{FF2B5EF4-FFF2-40B4-BE49-F238E27FC236}">
                <a16:creationId xmlns:a16="http://schemas.microsoft.com/office/drawing/2014/main" id="{DDEAAD60-29BB-66B3-DE58-2F05865A5BDC}"/>
              </a:ext>
            </a:extLst>
          </p:cNvPr>
          <p:cNvSpPr txBox="1">
            <a:spLocks/>
          </p:cNvSpPr>
          <p:nvPr/>
        </p:nvSpPr>
        <p:spPr>
          <a:xfrm>
            <a:off x="22625752" y="14918386"/>
            <a:ext cx="6092426" cy="3009790"/>
          </a:xfrm>
          <a:prstGeom prst="rect">
            <a:avLst/>
          </a:prstGeom>
        </p:spPr>
        <p:txBody>
          <a:bodyPr vert="horz" lIns="73152" tIns="36576" rIns="73152" bIns="36576" rtlCol="0" anchor="ctr">
            <a:noAutofit/>
          </a:bodyPr>
          <a:lstStyle>
            <a:lvl1pPr marL="0" indent="0" algn="l" defTabSz="2194889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46168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613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41056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93850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35947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3339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230834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8280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920" b="1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Investigate underperformance of Transformer model relative to BiLSTM and evaluate architectures specifically designed for genomic sequence modeling.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Explore larger models and longer input sequences to better capture long-range regulatory dependencies.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9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 Placeholder 16">
            <a:extLst>
              <a:ext uri="{FF2B5EF4-FFF2-40B4-BE49-F238E27FC236}">
                <a16:creationId xmlns:a16="http://schemas.microsoft.com/office/drawing/2014/main" id="{2606D360-1124-F2C8-47C7-7CB12DFA920A}"/>
              </a:ext>
            </a:extLst>
          </p:cNvPr>
          <p:cNvSpPr txBox="1">
            <a:spLocks/>
          </p:cNvSpPr>
          <p:nvPr/>
        </p:nvSpPr>
        <p:spPr>
          <a:xfrm>
            <a:off x="10804564" y="6091935"/>
            <a:ext cx="7033108" cy="1576267"/>
          </a:xfrm>
          <a:prstGeom prst="rect">
            <a:avLst/>
          </a:prstGeom>
        </p:spPr>
        <p:txBody>
          <a:bodyPr vert="horz" lIns="73152" tIns="36576" rIns="73152" bIns="36576" rtlCol="0">
            <a:noAutofit/>
          </a:bodyPr>
          <a:lstStyle>
            <a:lvl1pPr marL="0" indent="0" algn="l" defTabSz="2194889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46168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613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41056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93850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35947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3339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230834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8280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920" b="1" dirty="0">
                <a:latin typeface="Arial" panose="020B0604020202020204" pitchFamily="34" charset="0"/>
                <a:cs typeface="Arial" panose="020B0604020202020204" pitchFamily="34" charset="0"/>
              </a:rPr>
              <a:t>Model Comparison</a:t>
            </a:r>
            <a:endParaRPr lang="en-US" sz="224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indent="-27432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The task is effectively reduced to a binary classification problem: given a DNA sequence, predict whether or not it corresponds to a regulatory region.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 Placeholder 16">
            <a:extLst>
              <a:ext uri="{FF2B5EF4-FFF2-40B4-BE49-F238E27FC236}">
                <a16:creationId xmlns:a16="http://schemas.microsoft.com/office/drawing/2014/main" id="{FBB63757-B100-23F1-4CAE-BB6E2223059D}"/>
              </a:ext>
            </a:extLst>
          </p:cNvPr>
          <p:cNvSpPr txBox="1">
            <a:spLocks/>
          </p:cNvSpPr>
          <p:nvPr/>
        </p:nvSpPr>
        <p:spPr>
          <a:xfrm>
            <a:off x="19681330" y="10072814"/>
            <a:ext cx="3592725" cy="3376140"/>
          </a:xfrm>
          <a:prstGeom prst="rect">
            <a:avLst/>
          </a:prstGeom>
        </p:spPr>
        <p:txBody>
          <a:bodyPr vert="horz" lIns="73152" tIns="36576" rIns="73152" bIns="36576" rtlCol="0" anchor="ctr">
            <a:noAutofit/>
          </a:bodyPr>
          <a:lstStyle>
            <a:lvl1pPr marL="0" indent="0" algn="l" defTabSz="2194889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46168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613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41056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93850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35947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3339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230834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8280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920" b="1" dirty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Modern standard.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Utilizes self-attention.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Better at capturing global context and parallelizable.</a:t>
            </a:r>
          </a:p>
        </p:txBody>
      </p:sp>
      <p:sp>
        <p:nvSpPr>
          <p:cNvPr id="76" name="Text Placeholder 16">
            <a:extLst>
              <a:ext uri="{FF2B5EF4-FFF2-40B4-BE49-F238E27FC236}">
                <a16:creationId xmlns:a16="http://schemas.microsoft.com/office/drawing/2014/main" id="{4917E8E4-1C10-19C7-962F-6D12C9C97928}"/>
              </a:ext>
            </a:extLst>
          </p:cNvPr>
          <p:cNvSpPr txBox="1">
            <a:spLocks/>
          </p:cNvSpPr>
          <p:nvPr/>
        </p:nvSpPr>
        <p:spPr>
          <a:xfrm>
            <a:off x="10661670" y="10072814"/>
            <a:ext cx="3592725" cy="3376140"/>
          </a:xfrm>
          <a:prstGeom prst="rect">
            <a:avLst/>
          </a:prstGeom>
        </p:spPr>
        <p:txBody>
          <a:bodyPr vert="horz" lIns="73152" tIns="36576" rIns="73152" bIns="36576" rtlCol="0" anchor="ctr">
            <a:noAutofit/>
          </a:bodyPr>
          <a:lstStyle>
            <a:lvl1pPr marL="0" indent="0" algn="l" defTabSz="2194889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46168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613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41056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93850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35947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3339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230834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8280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920" b="1" dirty="0">
                <a:latin typeface="Arial" panose="020B0604020202020204" pitchFamily="34" charset="0"/>
                <a:cs typeface="Arial" panose="020B0604020202020204" pitchFamily="34" charset="0"/>
              </a:rPr>
              <a:t>BiLSTM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Bidirectional Long Short-Term Memory.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Captures sequential, short-range dependencies.</a:t>
            </a:r>
          </a:p>
          <a:p>
            <a:pPr marL="274311" indent="-27431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Struggles with long-range interactions.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F07FFC5-978D-7D41-015D-99F19ECECDED}"/>
              </a:ext>
            </a:extLst>
          </p:cNvPr>
          <p:cNvSpPr/>
          <p:nvPr/>
        </p:nvSpPr>
        <p:spPr>
          <a:xfrm>
            <a:off x="10412006" y="18405613"/>
            <a:ext cx="18519609" cy="724870"/>
          </a:xfrm>
          <a:prstGeom prst="rect">
            <a:avLst/>
          </a:prstGeom>
          <a:solidFill>
            <a:srgbClr val="32006E"/>
          </a:solidFill>
          <a:ln w="76200">
            <a:solidFill>
              <a:srgbClr val="3200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53E4F6FE-6879-2BDE-CC24-6493A58CF4CA}"/>
              </a:ext>
            </a:extLst>
          </p:cNvPr>
          <p:cNvSpPr txBox="1">
            <a:spLocks/>
          </p:cNvSpPr>
          <p:nvPr/>
        </p:nvSpPr>
        <p:spPr>
          <a:xfrm>
            <a:off x="10412005" y="18521415"/>
            <a:ext cx="16060658" cy="493266"/>
          </a:xfrm>
          <a:prstGeom prst="rect">
            <a:avLst/>
          </a:prstGeom>
        </p:spPr>
        <p:txBody>
          <a:bodyPr vert="horz" lIns="73152" tIns="36576" rIns="73152" bIns="36576" rtlCol="0">
            <a:noAutofit/>
          </a:bodyPr>
          <a:lstStyle>
            <a:lvl1pPr marL="0" indent="0" algn="l" defTabSz="2194889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1097445" indent="0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2194889" indent="0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3292335" indent="0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4389777" indent="0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4002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6035947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3339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230834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8280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8402E83-74FC-059C-4B34-22C7AE42297A}"/>
              </a:ext>
            </a:extLst>
          </p:cNvPr>
          <p:cNvSpPr/>
          <p:nvPr/>
        </p:nvSpPr>
        <p:spPr>
          <a:xfrm>
            <a:off x="10406355" y="18405612"/>
            <a:ext cx="18525259" cy="3119761"/>
          </a:xfrm>
          <a:prstGeom prst="rect">
            <a:avLst/>
          </a:prstGeom>
          <a:noFill/>
          <a:ln w="76200">
            <a:solidFill>
              <a:srgbClr val="3200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16">
            <a:extLst>
              <a:ext uri="{FF2B5EF4-FFF2-40B4-BE49-F238E27FC236}">
                <a16:creationId xmlns:a16="http://schemas.microsoft.com/office/drawing/2014/main" id="{4EEE5E6A-5DA1-A217-C7D7-C9DD2019A733}"/>
              </a:ext>
            </a:extLst>
          </p:cNvPr>
          <p:cNvSpPr txBox="1">
            <a:spLocks/>
          </p:cNvSpPr>
          <p:nvPr/>
        </p:nvSpPr>
        <p:spPr>
          <a:xfrm>
            <a:off x="10536987" y="19326952"/>
            <a:ext cx="18311823" cy="1996462"/>
          </a:xfrm>
          <a:prstGeom prst="rect">
            <a:avLst/>
          </a:prstGeom>
        </p:spPr>
        <p:txBody>
          <a:bodyPr vert="horz" lIns="73152" tIns="36576" rIns="73152" bIns="36576" rtlCol="0">
            <a:noAutofit/>
          </a:bodyPr>
          <a:lstStyle>
            <a:lvl1pPr marL="0" indent="0" algn="l" defTabSz="2194889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46168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613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41056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93850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35947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33391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230834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8280" indent="-548721" algn="l" defTabSz="2194889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760" dirty="0"/>
              <a:t>[1] ENCODE Project Consortium. </a:t>
            </a:r>
            <a:r>
              <a:rPr lang="en-US" sz="1760" i="1" dirty="0"/>
              <a:t>The ENCODE Project: Encyclopedia of DNA Elements in the Human Genome</a:t>
            </a:r>
            <a:r>
              <a:rPr lang="en-US" sz="1760" dirty="0"/>
              <a:t>. </a:t>
            </a:r>
            <a:r>
              <a:rPr lang="en-US" sz="1760" dirty="0">
                <a:hlinkClick r:id="rId3"/>
              </a:rPr>
              <a:t>https://www.encodeproject.org/</a:t>
            </a:r>
            <a:endParaRPr lang="en-US" sz="176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760" dirty="0"/>
              <a:t>[2] Genome Reference Consortium. </a:t>
            </a:r>
            <a:r>
              <a:rPr lang="en-US" sz="1760" i="1" dirty="0"/>
              <a:t>Human Genome Assembly GRCh38</a:t>
            </a:r>
            <a:r>
              <a:rPr lang="en-US" sz="1760" dirty="0"/>
              <a:t>. </a:t>
            </a:r>
            <a:r>
              <a:rPr lang="en-US" sz="1760" dirty="0">
                <a:hlinkClick r:id="rId4"/>
              </a:rPr>
              <a:t>https://www.ncbi.nlm.nih.gov/grc</a:t>
            </a:r>
            <a:endParaRPr lang="en-US" sz="176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760" dirty="0"/>
              <a:t>[3] UCSC Genome Browser. </a:t>
            </a:r>
            <a:r>
              <a:rPr lang="en-US" sz="1760" i="1" dirty="0"/>
              <a:t>Human Genome Browser on GRCh38</a:t>
            </a:r>
            <a:r>
              <a:rPr lang="en-US" sz="1760" dirty="0"/>
              <a:t>. </a:t>
            </a:r>
            <a:r>
              <a:rPr lang="en-US" sz="1760" dirty="0">
                <a:hlinkClick r:id="rId5"/>
              </a:rPr>
              <a:t>https://genome.ucsc.edu/</a:t>
            </a:r>
            <a:endParaRPr lang="en-US" sz="176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760" dirty="0"/>
              <a:t>[4] Javed, N., Weingarten, T., </a:t>
            </a:r>
            <a:r>
              <a:rPr lang="en-US" sz="1760" dirty="0" err="1"/>
              <a:t>Sehanobish</a:t>
            </a:r>
            <a:r>
              <a:rPr lang="en-US" sz="1760" dirty="0"/>
              <a:t>, A. et al. A multi-modal transformer for cell type-agnostic regulatory predictions. </a:t>
            </a:r>
            <a:r>
              <a:rPr lang="en-US" sz="1760" i="1" dirty="0"/>
              <a:t>Cell Genomics</a:t>
            </a:r>
            <a:r>
              <a:rPr lang="en-US" sz="1760" dirty="0"/>
              <a:t> 5, 100762 (2025). </a:t>
            </a:r>
            <a:r>
              <a:rPr lang="en-US" sz="1760" u="sng" dirty="0">
                <a:hlinkClick r:id="rId6"/>
              </a:rPr>
              <a:t>https://doi.org/10.1016/j.xgen.2025.100762</a:t>
            </a:r>
            <a:endParaRPr lang="en-US" sz="176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760" dirty="0"/>
              <a:t>[5] Avsec, Ž., </a:t>
            </a:r>
            <a:r>
              <a:rPr lang="fr-FR" sz="1760" dirty="0" err="1"/>
              <a:t>Latysheva</a:t>
            </a:r>
            <a:r>
              <a:rPr lang="fr-FR" sz="1760" dirty="0"/>
              <a:t>, N., Cheng, J. </a:t>
            </a:r>
            <a:r>
              <a:rPr lang="fr-FR" sz="1760" i="1" dirty="0"/>
              <a:t>et al.</a:t>
            </a:r>
            <a:r>
              <a:rPr lang="fr-FR" sz="1760" dirty="0"/>
              <a:t> </a:t>
            </a:r>
            <a:r>
              <a:rPr lang="en-US" sz="1760" dirty="0"/>
              <a:t>Advancing regulatory variant effect prediction with </a:t>
            </a:r>
            <a:r>
              <a:rPr lang="en-US" sz="1760" dirty="0" err="1"/>
              <a:t>AlphaGenome</a:t>
            </a:r>
            <a:r>
              <a:rPr lang="en-US" sz="1760" dirty="0"/>
              <a:t>. </a:t>
            </a:r>
            <a:r>
              <a:rPr lang="en-US" sz="1760" i="1" dirty="0"/>
              <a:t>Nature</a:t>
            </a:r>
            <a:r>
              <a:rPr lang="en-US" sz="1760" dirty="0"/>
              <a:t> 649, 1206–1218 (2026). </a:t>
            </a:r>
            <a:r>
              <a:rPr lang="en-US" sz="1760" u="sng" dirty="0">
                <a:hlinkClick r:id="rId7"/>
              </a:rPr>
              <a:t>https://doi.org/10.1038/s41586-025-10014-0</a:t>
            </a:r>
            <a:endParaRPr lang="en-US" sz="1760" u="sng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760" dirty="0"/>
              <a:t>[6] </a:t>
            </a:r>
            <a:r>
              <a:rPr lang="fr-FR" sz="1760" dirty="0" err="1"/>
              <a:t>Pipoli</a:t>
            </a:r>
            <a:r>
              <a:rPr lang="fr-FR" sz="1760" dirty="0"/>
              <a:t>, V., Cappelli, M., Palladini, A. et al. </a:t>
            </a:r>
            <a:r>
              <a:rPr lang="en-US" sz="1760" dirty="0"/>
              <a:t>Predicting gene expression levels from DNA sequences and post-transcriptional information with transformers. </a:t>
            </a:r>
            <a:r>
              <a:rPr lang="en-US" sz="1760" i="1" dirty="0"/>
              <a:t>Computer Methods and Programs in Biomedicine</a:t>
            </a:r>
            <a:r>
              <a:rPr lang="en-US" sz="1760" dirty="0"/>
              <a:t> 225, 107035 (2022). </a:t>
            </a:r>
            <a:r>
              <a:rPr lang="en-US" sz="1760" u="sng" dirty="0">
                <a:hlinkClick r:id="rId8"/>
              </a:rPr>
              <a:t>https://doi.org/10.1016/j.cmpb.2022.107035</a:t>
            </a:r>
            <a:endParaRPr lang="en-US" sz="1760" dirty="0"/>
          </a:p>
          <a:p>
            <a:pPr marL="411480" indent="-41148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sz="1760" dirty="0"/>
          </a:p>
          <a:p>
            <a:pPr marL="411480" indent="-41148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sz="17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E4BF9C-CB68-08EB-0801-F83D7FA667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14921" y="7812259"/>
            <a:ext cx="7604309" cy="174146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" name="Picture 2" descr="Chromatin accessibility and the regulatory epigenome | Nature Reviews  Genetics">
            <a:extLst>
              <a:ext uri="{FF2B5EF4-FFF2-40B4-BE49-F238E27FC236}">
                <a16:creationId xmlns:a16="http://schemas.microsoft.com/office/drawing/2014/main" id="{87B8D16F-74D7-C3B0-BA3C-A3CB74D5AC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1041" y="11378149"/>
            <a:ext cx="7642899" cy="2258596"/>
          </a:xfrm>
          <a:prstGeom prst="rect">
            <a:avLst/>
          </a:prstGeom>
          <a:ln w="12700">
            <a:solidFill>
              <a:srgbClr val="32006E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6FCF97-F3A8-9A6B-A7D9-75B0DAC4FF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946" y="18103631"/>
            <a:ext cx="9426546" cy="29655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B03FE21-AC67-5A3A-A496-90F569909C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600788" y="6060753"/>
            <a:ext cx="7794798" cy="38678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9241D4-FC8E-21BC-EC04-C090FF3DF7F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538909" y="10254317"/>
            <a:ext cx="4857908" cy="3013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E81424-C57F-1852-53B8-B8FD13A8C7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558570" y="10254317"/>
            <a:ext cx="4857909" cy="30131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9F59294-9386-58B0-45F8-97A75C50FDA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152442" y="14914330"/>
            <a:ext cx="4169630" cy="30179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40357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10007</TotalTime>
  <Words>647</Words>
  <Application>Microsoft Office PowerPoint</Application>
  <PresentationFormat>Custom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Calibri</vt:lpstr>
      <vt:lpstr>Calibri Light</vt:lpstr>
      <vt:lpstr>Uni Sans Regular</vt:lpstr>
      <vt:lpstr>Aptos</vt:lpstr>
      <vt:lpstr>Arial</vt:lpstr>
      <vt:lpstr>Office 2013 - 2022 Theme</vt:lpstr>
      <vt:lpstr>Regulatory DNA Prediction from Peak and Context Sequences Using BiLSTMs and Transformers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Sydney Brown</dc:creator>
  <cp:lastModifiedBy>Connor Nguyen</cp:lastModifiedBy>
  <cp:revision>59</cp:revision>
  <dcterms:created xsi:type="dcterms:W3CDTF">2018-02-07T04:27:03Z</dcterms:created>
  <dcterms:modified xsi:type="dcterms:W3CDTF">2026-06-08T04:50:41Z</dcterms:modified>
</cp:coreProperties>
</file>